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73" r:id="rId11"/>
    <p:sldId id="264" r:id="rId12"/>
    <p:sldId id="293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5CF1F-F9A3-4EFC-825C-53D69F98438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31917-29C8-4BC7-957C-F11257860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02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E4094-6878-1C17-34A3-487E2FC6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78017-F558-C382-8FA2-AAA26368F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778DC-AED0-C343-1225-37AA79641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64E56-1467-5981-EE71-DF961EA91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42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831917-29C8-4BC7-957C-F11257860B4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76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D07CF-3689-70DD-CB28-AAE1111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1CE79-C9C7-BB25-EF2A-10D005847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502CA-5B96-CB8A-20AE-3906E8C3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4E639-AD7E-574C-C9E9-F5B43490D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D176-E79D-6844-CB60-E7C78B68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7AB7-A55C-0B82-FAED-B7E332320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1BAA-D510-ABB0-901D-0FAB309B0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2E59-3B88-F398-664D-3985AEA37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25EA-93FA-07C0-7322-40260FD5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D02C-4A2F-1824-59A1-7983E449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5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FFE9-1FD7-F63D-6439-1E27142E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7795-663E-05D7-5AD6-EDE501C60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8FD33-591E-4820-A128-A94F0B33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73559-082C-1927-2A99-DB0902A7B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7344-A764-7087-642A-130D4BDB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62F8-3E12-F92D-405F-D6F538733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E924-67EF-C4F4-CBC4-3BA853B51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2A22-3AA1-9209-180C-ACD5CAE4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6BA27-B2FD-C446-BEC7-8C46DD9B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349FC-F9E9-C312-F4C6-8D6D604F9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505D3-5917-4780-1633-FE4FD211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271D-B1D1-D670-316D-2468EC1F2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281C9-A6B4-72BB-6420-63D0C9FB8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4F6D81-DC99-1889-9E64-F6033F06D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8B6AD-9212-7FEB-CFE3-F3E14CFE6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D93A19-BA01-CA22-F22E-732EFB0CE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FDF2F-88B4-F652-05E4-CA5A375F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AF91B-DD72-2AA0-29EB-85B63003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7C143-07DD-21D1-88BC-58DBC3BE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18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502C-7C07-3A37-3440-CFE6877C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934A65-9ABA-A4CB-2DD7-5CB25ECE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7960-613F-64A1-9E19-FCAF8E811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E4B99-D02C-E34A-900E-401B4D530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2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203A9-34DF-1A1A-0FAE-6315B950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D59CC-1CEE-6108-18C9-364D0D30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A34D-CFA4-C5D3-2E13-D88629799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5679-E51D-0CCA-C05C-4463EE16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7ADE-E05C-21F4-DCE0-A14C75F55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D3006-CFC8-B856-9620-E3B6D8BE9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8152A-8351-B7BE-2FF4-ECFD17E1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8D4CE-EDF4-0C77-DFBD-B16DB10CC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4EC1D1-D55C-A862-30A7-9C883B68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1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72F1-FAF3-F6B1-75BE-9D89225C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0378F-FD1A-2C35-6AE0-CE2E78A7A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4C9C7-AA5D-5148-E367-145C76EB9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CB853-5ABE-2552-6205-942FD79D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29388-4C49-BE88-B847-EE920D618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3087-2BB3-A704-D22E-D242C721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27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142C-5EF6-2436-9786-E5975AD4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4508B-5FD2-4D1F-FD73-B24651E21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65CB0-E5BC-47F5-6035-DBCFE4349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356D-EF3B-C45C-A827-E6901EAF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5E016-DF99-DC44-C6F3-B22839C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8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D9BCE-A0F0-4C4F-1D8F-DC958C87F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9F0D40-AC43-C1C8-5C8B-94D803BC0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B8351-C7F1-1407-53B1-FD03FFC3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0FF2-A8E9-E359-37B4-ED45884B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2B75-6ECC-17A2-20CE-2675B3D9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027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13E8-0655-D862-8DF0-C1E93F72E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BFED0-7C94-95B8-C497-12C513EF1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7FD-4D5B-4F88-10A6-46C987B1D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CA240-4DCA-41BB-A29D-1D0DE405E1C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7536-CC95-FFEB-5C32-E7F7DA66E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6531-DCEC-0275-6210-63850CEAF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BA429-FB8D-4B42-A680-0E6E287F0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9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nik1710/" TargetMode="External"/><Relationship Id="rId2" Type="http://schemas.openxmlformats.org/officeDocument/2006/relationships/hyperlink" Target="https://github.com/Cnik171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8680-A25A-D894-2D56-B1731FC78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43000"/>
            <a:ext cx="11996928" cy="117043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Airbnb - User Journey &amp; Growth Analysis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EA40268-244F-926E-D357-3F80868EF7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15184"/>
            <a:ext cx="9713976" cy="2642616"/>
          </a:xfrm>
        </p:spPr>
        <p:txBody>
          <a:bodyPr/>
          <a:lstStyle/>
          <a:p>
            <a:pPr algn="r"/>
            <a:r>
              <a:rPr lang="en-US" b="1" dirty="0"/>
              <a:t>- A Case Study by Anik Chakraborty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70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ED8B-9AD1-378F-956F-1188E5D4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8BF1-2AF7-C2B1-A237-41D379F46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07007"/>
          </a:xfrm>
        </p:spPr>
        <p:txBody>
          <a:bodyPr/>
          <a:lstStyle/>
          <a:p>
            <a:r>
              <a:rPr lang="en-US" b="1" dirty="0"/>
              <a:t>🎯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1B1A7-6F14-9B4E-4CA3-1F60BBA0E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7008"/>
            <a:ext cx="12192000" cy="5650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Project Purpose:</a:t>
            </a:r>
          </a:p>
          <a:p>
            <a:pPr marL="0" indent="0">
              <a:buNone/>
            </a:pPr>
            <a:r>
              <a:rPr lang="en-US" sz="1500" dirty="0"/>
              <a:t>Analyze </a:t>
            </a:r>
            <a:r>
              <a:rPr lang="en-US" sz="1500" b="1" dirty="0"/>
              <a:t>user behavior and journey</a:t>
            </a:r>
            <a:r>
              <a:rPr lang="en-US" sz="1500" dirty="0"/>
              <a:t> on the Airbnb platform. Identify key drivers of </a:t>
            </a:r>
            <a:r>
              <a:rPr lang="en-US" sz="1500" b="1" dirty="0"/>
              <a:t>user engagement and booking conversion</a:t>
            </a:r>
            <a:r>
              <a:rPr lang="en-US" sz="1500" dirty="0"/>
              <a:t>. Evaluate </a:t>
            </a:r>
            <a:r>
              <a:rPr lang="en-US" sz="1500" b="1" dirty="0"/>
              <a:t>marketing channel effectiveness and platform usage</a:t>
            </a:r>
            <a:r>
              <a:rPr lang="en-US" sz="1500" dirty="0"/>
              <a:t>.</a:t>
            </a:r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KPIs:</a:t>
            </a:r>
          </a:p>
          <a:p>
            <a:pPr lvl="1"/>
            <a:r>
              <a:rPr lang="en-US" sz="1500" b="1" dirty="0"/>
              <a:t>Total Unique Users</a:t>
            </a:r>
            <a:endParaRPr lang="en-US" sz="1500" dirty="0"/>
          </a:p>
          <a:p>
            <a:pPr lvl="1"/>
            <a:r>
              <a:rPr lang="en-US" sz="1500" b="1" dirty="0"/>
              <a:t>Total Sessions</a:t>
            </a:r>
            <a:endParaRPr lang="en-US" sz="1500" dirty="0"/>
          </a:p>
          <a:p>
            <a:pPr lvl="1"/>
            <a:r>
              <a:rPr lang="en-US" sz="1500" b="1" dirty="0"/>
              <a:t>Total Bookings</a:t>
            </a:r>
            <a:endParaRPr lang="en-US" sz="1500" dirty="0"/>
          </a:p>
          <a:p>
            <a:pPr lvl="1"/>
            <a:r>
              <a:rPr lang="en-US" sz="1500" b="1" dirty="0"/>
              <a:t>Conversion Rate (%)</a:t>
            </a:r>
            <a:endParaRPr lang="en-US" sz="1500" dirty="0"/>
          </a:p>
          <a:p>
            <a:pPr lvl="1"/>
            <a:r>
              <a:rPr lang="en-US" sz="1500" b="1" dirty="0"/>
              <a:t>Average Session Duration</a:t>
            </a:r>
            <a:endParaRPr lang="en-US" sz="1500" dirty="0"/>
          </a:p>
          <a:p>
            <a:pPr lvl="1"/>
            <a:r>
              <a:rPr lang="en-US" sz="1500" b="1" dirty="0"/>
              <a:t>Average Devices per User</a:t>
            </a:r>
            <a:endParaRPr lang="en-US" sz="1500" dirty="0"/>
          </a:p>
          <a:p>
            <a:pPr marL="0" indent="0">
              <a:buNone/>
            </a:pPr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Deliverables:</a:t>
            </a:r>
          </a:p>
          <a:p>
            <a:pPr lvl="1"/>
            <a:r>
              <a:rPr lang="en-US" sz="1500" b="1" dirty="0"/>
              <a:t>Interactive Power BI Dashboard Pages</a:t>
            </a:r>
            <a:endParaRPr lang="en-US" sz="1500" dirty="0"/>
          </a:p>
          <a:p>
            <a:pPr lvl="2"/>
            <a:r>
              <a:rPr lang="en-US" sz="1500" b="1" dirty="0"/>
              <a:t>User Journey Overview</a:t>
            </a:r>
          </a:p>
          <a:p>
            <a:pPr lvl="2"/>
            <a:r>
              <a:rPr lang="en-US" sz="1500" b="1" dirty="0"/>
              <a:t>Growth Analysis</a:t>
            </a:r>
            <a:endParaRPr lang="en-US" sz="1500" dirty="0"/>
          </a:p>
          <a:p>
            <a:pPr lvl="1"/>
            <a:r>
              <a:rPr lang="en-US" sz="1500" b="1" dirty="0"/>
              <a:t>Actionable business recommendations</a:t>
            </a:r>
            <a:endParaRPr lang="en-US" sz="1500" dirty="0"/>
          </a:p>
          <a:p>
            <a:pPr marL="457200" lvl="1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22370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9259-3AE4-54A1-CBB6-E45565788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009B-6693-12D5-ACCC-9C2BE49B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2416"/>
          </a:xfrm>
        </p:spPr>
        <p:txBody>
          <a:bodyPr/>
          <a:lstStyle/>
          <a:p>
            <a:r>
              <a:rPr lang="en-US" dirty="0"/>
              <a:t>📘 </a:t>
            </a:r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0AAF2-1B8B-7337-E4F6-4B1EB8949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00783"/>
            <a:ext cx="12192000" cy="5157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Context Highlights:</a:t>
            </a:r>
          </a:p>
          <a:p>
            <a:pPr marL="0" indent="0">
              <a:buNone/>
            </a:pPr>
            <a:r>
              <a:rPr lang="en-US" sz="1600" dirty="0"/>
              <a:t>In a highly competitive digital marketplace, every user interaction—from first visit to final booking. Analyzing these user journeys across devices and channels helps uncover key touchpoints that drive engagement, retention, and conversion.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The insights generated from this analysis help businesses to:</a:t>
            </a:r>
          </a:p>
          <a:p>
            <a:pPr lvl="1"/>
            <a:r>
              <a:rPr lang="en-US" sz="1500" dirty="0"/>
              <a:t>Airbnb operates in a </a:t>
            </a:r>
            <a:r>
              <a:rPr lang="en-US" sz="1500" b="1" dirty="0"/>
              <a:t>multi-device, multi-channel environment</a:t>
            </a:r>
            <a:endParaRPr lang="en-US" sz="1500" dirty="0"/>
          </a:p>
          <a:p>
            <a:pPr lvl="1"/>
            <a:r>
              <a:rPr lang="en-US" sz="1500" dirty="0"/>
              <a:t>Users interact via </a:t>
            </a:r>
            <a:r>
              <a:rPr lang="en-US" sz="1500" b="1" dirty="0"/>
              <a:t>web, mobile, and different acquisition channels</a:t>
            </a:r>
            <a:endParaRPr lang="en-US" sz="1500" dirty="0"/>
          </a:p>
          <a:p>
            <a:pPr lvl="1"/>
            <a:r>
              <a:rPr lang="en-US" sz="1500" dirty="0"/>
              <a:t>Understanding user journey helps improve:</a:t>
            </a:r>
          </a:p>
          <a:p>
            <a:pPr lvl="2"/>
            <a:r>
              <a:rPr lang="en-US" sz="1500" b="1" dirty="0"/>
              <a:t>Conversion rates</a:t>
            </a:r>
            <a:endParaRPr lang="en-US" sz="1500" dirty="0"/>
          </a:p>
          <a:p>
            <a:pPr lvl="2"/>
            <a:r>
              <a:rPr lang="en-US" sz="1500" b="1" dirty="0"/>
              <a:t>User engagement</a:t>
            </a:r>
            <a:endParaRPr lang="en-US" sz="1500" dirty="0"/>
          </a:p>
          <a:p>
            <a:pPr lvl="2"/>
            <a:r>
              <a:rPr lang="en-US" sz="1500" b="1" dirty="0"/>
              <a:t>Marketing ROI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86330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05D0-89AE-A6CE-6C31-85CEF4EBE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B29A-F0B3-9358-A799-93A59837F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1287"/>
          </a:xfrm>
        </p:spPr>
        <p:txBody>
          <a:bodyPr/>
          <a:lstStyle/>
          <a:p>
            <a:r>
              <a:rPr lang="en-US" dirty="0"/>
              <a:t>🗂️ </a:t>
            </a:r>
            <a:r>
              <a:rPr lang="en-US" b="1" dirty="0"/>
              <a:t>Data Overview &amp;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AB147-EF65-C788-5AF2-E14483E83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3312"/>
            <a:ext cx="12192000" cy="5504688"/>
          </a:xfrm>
        </p:spPr>
        <p:txBody>
          <a:bodyPr>
            <a:noAutofit/>
          </a:bodyPr>
          <a:lstStyle/>
          <a:p>
            <a:r>
              <a:rPr lang="en-US" sz="1500" b="1" dirty="0"/>
              <a:t>Data Source:</a:t>
            </a:r>
          </a:p>
          <a:p>
            <a:pPr lvl="1"/>
            <a:r>
              <a:rPr lang="en-US" sz="1500" b="1" dirty="0"/>
              <a:t>Source:</a:t>
            </a:r>
            <a:r>
              <a:rPr lang="en-US" sz="1500" dirty="0"/>
              <a:t> Airbnb User &amp; Session Dataset</a:t>
            </a:r>
          </a:p>
          <a:p>
            <a:pPr lvl="1"/>
            <a:r>
              <a:rPr lang="en-US" sz="1500" b="1" dirty="0"/>
              <a:t>Data Type:</a:t>
            </a:r>
            <a:r>
              <a:rPr lang="en-US" sz="1500" dirty="0"/>
              <a:t> Structured (Relational Tables)</a:t>
            </a:r>
          </a:p>
          <a:p>
            <a:pPr lvl="1"/>
            <a:r>
              <a:rPr lang="en-US" sz="1500" b="1" dirty="0"/>
              <a:t>Time Period:</a:t>
            </a:r>
            <a:r>
              <a:rPr lang="en-US" sz="1500" dirty="0"/>
              <a:t> </a:t>
            </a:r>
            <a:r>
              <a:rPr lang="en-US" sz="1500" b="1" dirty="0"/>
              <a:t>2010 – 2014</a:t>
            </a:r>
            <a:endParaRPr lang="en-US" sz="1500" dirty="0"/>
          </a:p>
          <a:p>
            <a:r>
              <a:rPr lang="en-US" sz="1500" b="1" dirty="0"/>
              <a:t>Data Structure &amp; Metrics:</a:t>
            </a:r>
          </a:p>
          <a:p>
            <a:pPr lvl="1"/>
            <a:r>
              <a:rPr lang="en-US" sz="1500" b="1" dirty="0"/>
              <a:t>Key Index:</a:t>
            </a:r>
            <a:r>
              <a:rPr lang="en-US" sz="1500" dirty="0"/>
              <a:t> </a:t>
            </a:r>
            <a:r>
              <a:rPr lang="en-US" sz="1500" dirty="0" err="1"/>
              <a:t>user_id</a:t>
            </a:r>
            <a:endParaRPr lang="en-US" sz="1500" dirty="0"/>
          </a:p>
          <a:p>
            <a:pPr lvl="1"/>
            <a:r>
              <a:rPr lang="en-US" sz="1500" b="1" dirty="0"/>
              <a:t>Total Rows:</a:t>
            </a:r>
            <a:r>
              <a:rPr lang="en-US" sz="1500" dirty="0"/>
              <a:t> ~</a:t>
            </a:r>
            <a:r>
              <a:rPr lang="en-US" sz="1500" b="1" dirty="0"/>
              <a:t>100K+ session records</a:t>
            </a:r>
            <a:endParaRPr lang="en-US" sz="1500" dirty="0"/>
          </a:p>
          <a:p>
            <a:pPr lvl="1"/>
            <a:r>
              <a:rPr lang="en-US" sz="1500" b="1" dirty="0"/>
              <a:t>Categories:</a:t>
            </a:r>
            <a:endParaRPr lang="en-US" sz="1500" dirty="0"/>
          </a:p>
          <a:p>
            <a:pPr lvl="2"/>
            <a:r>
              <a:rPr lang="en-US" sz="1500" b="1" dirty="0"/>
              <a:t>User Data:</a:t>
            </a:r>
            <a:r>
              <a:rPr lang="en-US" sz="1500" dirty="0"/>
              <a:t> Gender, Signup Method, Device</a:t>
            </a:r>
          </a:p>
          <a:p>
            <a:pPr lvl="2"/>
            <a:r>
              <a:rPr lang="en-US" sz="1500" b="1" dirty="0"/>
              <a:t>Session Data:</a:t>
            </a:r>
            <a:r>
              <a:rPr lang="en-US" sz="1500" dirty="0"/>
              <a:t> Actions, Duration, Device Type</a:t>
            </a:r>
          </a:p>
          <a:p>
            <a:pPr lvl="2"/>
            <a:r>
              <a:rPr lang="en-US" sz="1500" b="1" dirty="0"/>
              <a:t>Marketing Data:</a:t>
            </a:r>
            <a:r>
              <a:rPr lang="en-US" sz="1500" dirty="0"/>
              <a:t> Affiliate Channels &amp; Providers</a:t>
            </a:r>
          </a:p>
          <a:p>
            <a:pPr lvl="1"/>
            <a:r>
              <a:rPr lang="en-US" sz="1500" b="1" dirty="0"/>
              <a:t>Calculated Metrics:</a:t>
            </a:r>
          </a:p>
          <a:p>
            <a:pPr lvl="2"/>
            <a:r>
              <a:rPr lang="en-US" sz="1500" b="1" dirty="0"/>
              <a:t>Conversion Rate (%)</a:t>
            </a:r>
            <a:endParaRPr lang="en-US" sz="1500" dirty="0"/>
          </a:p>
          <a:p>
            <a:pPr lvl="2"/>
            <a:r>
              <a:rPr lang="en-US" sz="1500" b="1" dirty="0"/>
              <a:t>Session Engagement Rate</a:t>
            </a:r>
            <a:endParaRPr lang="en-US" sz="1500" dirty="0"/>
          </a:p>
          <a:p>
            <a:pPr lvl="2"/>
            <a:r>
              <a:rPr lang="en-US" sz="1500" b="1" dirty="0"/>
              <a:t>Average Session Duration</a:t>
            </a:r>
            <a:endParaRPr lang="en-US" sz="1500" dirty="0"/>
          </a:p>
          <a:p>
            <a:pPr lvl="2"/>
            <a:r>
              <a:rPr lang="en-US" sz="1500" b="1" dirty="0"/>
              <a:t>Average Devices per User</a:t>
            </a:r>
            <a:endParaRPr lang="en-US" sz="1500" dirty="0"/>
          </a:p>
          <a:p>
            <a:pPr lvl="2"/>
            <a:r>
              <a:rPr lang="en-US" sz="1500" b="1" dirty="0"/>
              <a:t>Total Time Spent per User</a:t>
            </a:r>
            <a:endParaRPr lang="en-US" sz="1500" dirty="0"/>
          </a:p>
          <a:p>
            <a:pPr marL="0" indent="0">
              <a:buNone/>
            </a:pPr>
            <a:endParaRPr lang="en-US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2558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D283-EBD7-0DB0-B822-C904373B7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A9528-B419-1118-CCE6-C65F00D7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r>
              <a:rPr lang="en-US" dirty="0"/>
              <a:t>💻 </a:t>
            </a:r>
            <a:r>
              <a:rPr lang="en-US" b="1" dirty="0"/>
              <a:t>Tech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EB2A4-BBC5-FEA3-7A3D-3958371EF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" y="1536192"/>
            <a:ext cx="12192000" cy="53035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Tools:</a:t>
            </a:r>
          </a:p>
          <a:p>
            <a:pPr lvl="1"/>
            <a:r>
              <a:rPr lang="en-US" sz="1500" b="1" dirty="0"/>
              <a:t>SQL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extraction &amp; business question analysis</a:t>
            </a:r>
          </a:p>
          <a:p>
            <a:pPr lvl="1"/>
            <a:r>
              <a:rPr lang="en-US" sz="1500" b="1" dirty="0"/>
              <a:t>PowerQuery</a:t>
            </a:r>
            <a:r>
              <a:rPr lang="en-US" sz="1500" dirty="0"/>
              <a:t> </a:t>
            </a:r>
          </a:p>
          <a:p>
            <a:pPr lvl="2"/>
            <a:r>
              <a:rPr lang="en-US" sz="1500" dirty="0"/>
              <a:t>Data Transformation &amp; Shaping</a:t>
            </a:r>
          </a:p>
          <a:p>
            <a:pPr lvl="2"/>
            <a:r>
              <a:rPr lang="en-US" sz="1500" dirty="0"/>
              <a:t>Column Standardization</a:t>
            </a:r>
          </a:p>
          <a:p>
            <a:pPr lvl="2"/>
            <a:r>
              <a:rPr lang="en-US" sz="1500" dirty="0"/>
              <a:t>Data Preparation for BI Integration</a:t>
            </a:r>
            <a:endParaRPr lang="en-US" sz="1500" b="1" dirty="0"/>
          </a:p>
          <a:p>
            <a:pPr lvl="1"/>
            <a:r>
              <a:rPr lang="en-US" sz="1500" b="1" dirty="0"/>
              <a:t>PowerBI</a:t>
            </a:r>
          </a:p>
          <a:p>
            <a:pPr lvl="2"/>
            <a:r>
              <a:rPr lang="en-US" sz="1500" dirty="0"/>
              <a:t>Dashboard &amp; Visualization</a:t>
            </a:r>
          </a:p>
          <a:p>
            <a:pPr lvl="2"/>
            <a:r>
              <a:rPr lang="en-US" sz="1500" dirty="0"/>
              <a:t>Data Modeling &amp; Relationship Building</a:t>
            </a:r>
          </a:p>
          <a:p>
            <a:pPr lvl="2"/>
            <a:r>
              <a:rPr lang="en-US" sz="1500" b="1" dirty="0"/>
              <a:t>DAX</a:t>
            </a:r>
            <a:r>
              <a:rPr lang="en-US" sz="1500" dirty="0"/>
              <a:t> – KPI Calculations Columns &amp; Measures</a:t>
            </a:r>
          </a:p>
          <a:p>
            <a:pPr lvl="2"/>
            <a:r>
              <a:rPr lang="en-US" sz="1500" dirty="0"/>
              <a:t>Slicers &amp; Dynamic Filtering</a:t>
            </a:r>
            <a:endParaRPr lang="en-US" sz="1500" b="1" dirty="0"/>
          </a:p>
          <a:p>
            <a:pPr lvl="1"/>
            <a:r>
              <a:rPr lang="en-US" sz="1500" b="1" dirty="0"/>
              <a:t>PowerPoint</a:t>
            </a:r>
          </a:p>
          <a:p>
            <a:pPr lvl="2"/>
            <a:r>
              <a:rPr lang="en-US" sz="1500" dirty="0"/>
              <a:t>Presentation and final dashboard snapshots</a:t>
            </a:r>
          </a:p>
        </p:txBody>
      </p:sp>
    </p:spTree>
    <p:extLst>
      <p:ext uri="{BB962C8B-B14F-4D97-AF65-F5344CB8AC3E}">
        <p14:creationId xmlns:p14="http://schemas.microsoft.com/office/powerpoint/2010/main" val="401894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58E0A-B946-595F-3911-DF6408FA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0A33-B38B-61A3-4763-034915DA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70431"/>
          </a:xfrm>
        </p:spPr>
        <p:txBody>
          <a:bodyPr/>
          <a:lstStyle/>
          <a:p>
            <a:r>
              <a:rPr lang="en-US" dirty="0"/>
              <a:t>📈 </a:t>
            </a:r>
            <a:r>
              <a:rPr lang="en-US" b="1" dirty="0"/>
              <a:t>Methodology &amp;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CA01-5F25-C1F3-8499-B0C432CE1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432"/>
            <a:ext cx="12192000" cy="56875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Preparation, Process &amp; Analytical Approach:</a:t>
            </a:r>
          </a:p>
          <a:p>
            <a:pPr lvl="1"/>
            <a:r>
              <a:rPr lang="en-US" sz="1500" b="1" dirty="0"/>
              <a:t>Data Preparation &amp; Cleaning:</a:t>
            </a:r>
          </a:p>
          <a:p>
            <a:pPr lvl="2"/>
            <a:r>
              <a:rPr lang="en-US" sz="1500" b="1" dirty="0"/>
              <a:t>Handled missing values (e.g., gender, country)</a:t>
            </a:r>
            <a:endParaRPr lang="en-US" sz="1500" dirty="0"/>
          </a:p>
          <a:p>
            <a:pPr lvl="2"/>
            <a:r>
              <a:rPr lang="en-US" sz="1500" b="1" dirty="0"/>
              <a:t>Standardized device types &amp; signup apps</a:t>
            </a:r>
            <a:endParaRPr lang="en-US" sz="1500" dirty="0"/>
          </a:p>
          <a:p>
            <a:pPr lvl="2"/>
            <a:r>
              <a:rPr lang="en-US" sz="1500" b="1" dirty="0"/>
              <a:t>Removed inconsistencies in session data</a:t>
            </a:r>
            <a:endParaRPr lang="en-US" sz="1500" dirty="0"/>
          </a:p>
          <a:p>
            <a:pPr lvl="1"/>
            <a:r>
              <a:rPr lang="en-US" sz="1500" b="1" dirty="0"/>
              <a:t>Data Modeling &amp; Integration:</a:t>
            </a:r>
          </a:p>
          <a:p>
            <a:pPr lvl="2"/>
            <a:r>
              <a:rPr lang="en-US" sz="1500" b="1" dirty="0"/>
              <a:t>Joined users and sessions tables</a:t>
            </a:r>
            <a:endParaRPr lang="en-US" sz="1500" dirty="0"/>
          </a:p>
          <a:p>
            <a:pPr lvl="2"/>
            <a:r>
              <a:rPr lang="en-US" sz="1500" b="1" dirty="0"/>
              <a:t>Created unified dataset: </a:t>
            </a:r>
            <a:r>
              <a:rPr lang="en-US" sz="1500" b="1" dirty="0" err="1"/>
              <a:t>countries_users_sessions</a:t>
            </a:r>
            <a:endParaRPr lang="en-US" sz="1500" dirty="0"/>
          </a:p>
          <a:p>
            <a:pPr lvl="1"/>
            <a:r>
              <a:rPr lang="en-US" sz="1500" b="1" dirty="0"/>
              <a:t>Feature Engineering:</a:t>
            </a:r>
          </a:p>
          <a:p>
            <a:pPr lvl="2"/>
            <a:r>
              <a:rPr lang="en-US" sz="1500" b="1" dirty="0"/>
              <a:t>Booking Status (Booker vs Looker)</a:t>
            </a:r>
            <a:endParaRPr lang="en-US" sz="1500" dirty="0"/>
          </a:p>
          <a:p>
            <a:pPr lvl="2"/>
            <a:r>
              <a:rPr lang="en-US" sz="1500" b="1" dirty="0"/>
              <a:t>Session Engagement Rate</a:t>
            </a:r>
            <a:endParaRPr lang="en-US" sz="1500" dirty="0"/>
          </a:p>
          <a:p>
            <a:pPr lvl="2"/>
            <a:r>
              <a:rPr lang="en-US" sz="1500" b="1" dirty="0"/>
              <a:t>Conversion Rate</a:t>
            </a:r>
            <a:endParaRPr lang="en-US" sz="1500" dirty="0"/>
          </a:p>
          <a:p>
            <a:pPr lvl="2"/>
            <a:r>
              <a:rPr lang="en-US" sz="1500" b="1" dirty="0"/>
              <a:t>Device Usage per User</a:t>
            </a:r>
            <a:endParaRPr lang="en-US" sz="1500" dirty="0"/>
          </a:p>
          <a:p>
            <a:pPr lvl="1"/>
            <a:r>
              <a:rPr lang="en-US" sz="1500" b="1" dirty="0"/>
              <a:t>Visualization Design:</a:t>
            </a:r>
          </a:p>
          <a:p>
            <a:pPr lvl="2"/>
            <a:r>
              <a:rPr lang="en-US" sz="1600" dirty="0"/>
              <a:t>Built </a:t>
            </a:r>
            <a:r>
              <a:rPr lang="en-US" sz="1600" b="1" dirty="0"/>
              <a:t>two interactive Power BI dashboards</a:t>
            </a:r>
            <a:endParaRPr lang="en-US" sz="1500" dirty="0"/>
          </a:p>
          <a:p>
            <a:pPr lvl="2"/>
            <a:r>
              <a:rPr lang="en-US" sz="1600" dirty="0"/>
              <a:t>Used </a:t>
            </a:r>
            <a:r>
              <a:rPr lang="en-US" sz="1500" b="1" dirty="0"/>
              <a:t>clear KPI cards &amp; supporting visuals</a:t>
            </a:r>
            <a:endParaRPr lang="en-US" sz="1500" dirty="0"/>
          </a:p>
          <a:p>
            <a:pPr lvl="2"/>
            <a:r>
              <a:rPr lang="en-US" sz="1500" dirty="0"/>
              <a:t>Consistent color theme &amp; layout</a:t>
            </a:r>
          </a:p>
          <a:p>
            <a:pPr lvl="1"/>
            <a:r>
              <a:rPr lang="en-US" sz="1500" b="1" dirty="0"/>
              <a:t>Validation &amp; Formatting:</a:t>
            </a:r>
          </a:p>
          <a:p>
            <a:pPr lvl="2"/>
            <a:r>
              <a:rPr lang="en-US" sz="1500" b="1" dirty="0"/>
              <a:t>Cross-validated SQL results with Power BI</a:t>
            </a:r>
            <a:endParaRPr lang="en-US" sz="1500" dirty="0"/>
          </a:p>
          <a:p>
            <a:pPr lvl="2"/>
            <a:r>
              <a:rPr lang="en-US" sz="1500" b="1" dirty="0"/>
              <a:t>Applied percentage formatting &amp; clean labeling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1905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BCCD7-A39B-0FD5-720A-7044E3773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45BD-754D-DCFF-3FA5-2D23DEEB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97280"/>
          </a:xfrm>
        </p:spPr>
        <p:txBody>
          <a:bodyPr/>
          <a:lstStyle/>
          <a:p>
            <a:r>
              <a:rPr lang="en-US" dirty="0"/>
              <a:t>❓ </a:t>
            </a:r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3FC0D-0141-AC3D-0618-06A088DFD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2768"/>
            <a:ext cx="12192000" cy="52852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/>
              <a:t>Understanding how users interact with the platform at each stage of their journey is crucial to identifying friction points and unlocking growth opportunities. These questions form the foundation of a data-driven approach to evaluate user behavior and support strategic decision-making.</a:t>
            </a:r>
            <a:endParaRPr lang="en-US" sz="1500" b="1" dirty="0"/>
          </a:p>
          <a:p>
            <a:pPr marL="0" indent="0">
              <a:buNone/>
            </a:pPr>
            <a:r>
              <a:rPr lang="en-US" sz="1500" dirty="0"/>
              <a:t>Therefore, this analysis focuses on the key drivers of user behavior, engagement, and conversion.</a:t>
            </a:r>
            <a:endParaRPr lang="en-US" sz="1500" b="1" dirty="0"/>
          </a:p>
          <a:p>
            <a:endParaRPr lang="en-US" sz="1500" b="1" dirty="0"/>
          </a:p>
          <a:p>
            <a:pPr marL="0" indent="0">
              <a:buNone/>
            </a:pPr>
            <a:r>
              <a:rPr lang="en-US" sz="1500" b="1" dirty="0"/>
              <a:t>Key Questions:</a:t>
            </a:r>
          </a:p>
          <a:p>
            <a:pPr lvl="1"/>
            <a:r>
              <a:rPr lang="en-US" sz="1500" dirty="0"/>
              <a:t>Who are the users and how do they interact with Airbnb?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devices and platforms </a:t>
            </a:r>
            <a:r>
              <a:rPr lang="en-US" sz="1500" dirty="0"/>
              <a:t>drive engagement?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marketing channels</a:t>
            </a:r>
            <a:r>
              <a:rPr lang="en-US" sz="1500" dirty="0"/>
              <a:t> bring the most users?</a:t>
            </a:r>
          </a:p>
          <a:p>
            <a:pPr lvl="1"/>
            <a:r>
              <a:rPr lang="en-US" sz="1500" dirty="0"/>
              <a:t>Which </a:t>
            </a:r>
            <a:r>
              <a:rPr lang="en-US" sz="1500" b="1" dirty="0"/>
              <a:t>channels</a:t>
            </a:r>
            <a:r>
              <a:rPr lang="en-US" sz="1500" dirty="0"/>
              <a:t> convert users into bookings?</a:t>
            </a:r>
          </a:p>
          <a:p>
            <a:pPr lvl="1"/>
            <a:r>
              <a:rPr lang="en-US" sz="1500" dirty="0"/>
              <a:t>Who are the most valuable and active users?</a:t>
            </a:r>
          </a:p>
          <a:p>
            <a:pPr lvl="1"/>
            <a:r>
              <a:rPr lang="en-US" sz="1500" dirty="0"/>
              <a:t>How does </a:t>
            </a:r>
            <a:r>
              <a:rPr lang="en-US" sz="1500" b="1" dirty="0"/>
              <a:t>user behavior impact</a:t>
            </a:r>
            <a:r>
              <a:rPr lang="en-US" sz="1500" dirty="0"/>
              <a:t> conversion?</a:t>
            </a:r>
          </a:p>
        </p:txBody>
      </p:sp>
    </p:spTree>
    <p:extLst>
      <p:ext uri="{BB962C8B-B14F-4D97-AF65-F5344CB8AC3E}">
        <p14:creationId xmlns:p14="http://schemas.microsoft.com/office/powerpoint/2010/main" val="978535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F26EB-B019-FBC8-A09E-94BD3ACB8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D1C2-4CBD-56F3-7E00-F65B235D4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/>
          <a:lstStyle/>
          <a:p>
            <a:r>
              <a:rPr lang="en-US" dirty="0"/>
              <a:t>💡 </a:t>
            </a:r>
            <a:r>
              <a:rPr lang="en-US" b="1" dirty="0"/>
              <a:t>Key Insights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78059-4D9F-6FA4-C821-BEA491FAC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7320"/>
            <a:ext cx="12192000" cy="54406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/>
              <a:t>Top Findings:</a:t>
            </a:r>
          </a:p>
          <a:p>
            <a:pPr lvl="1"/>
            <a:r>
              <a:rPr lang="en-US" sz="1500" b="1" dirty="0"/>
              <a:t>~41% overall conversion rate</a:t>
            </a:r>
            <a:r>
              <a:rPr lang="en-US" sz="1500" dirty="0"/>
              <a:t> indicates strong booking performance</a:t>
            </a:r>
          </a:p>
          <a:p>
            <a:pPr lvl="1"/>
            <a:r>
              <a:rPr lang="en-US" sz="1500" b="1" dirty="0"/>
              <a:t>Desktop </a:t>
            </a:r>
            <a:r>
              <a:rPr lang="en-US" sz="1500" dirty="0"/>
              <a:t>is the </a:t>
            </a:r>
            <a:r>
              <a:rPr lang="en-US" sz="1500" b="1" dirty="0"/>
              <a:t>dominant entry device </a:t>
            </a:r>
            <a:r>
              <a:rPr lang="en-US" sz="1500" dirty="0"/>
              <a:t>for users</a:t>
            </a:r>
          </a:p>
          <a:p>
            <a:pPr lvl="1"/>
            <a:r>
              <a:rPr lang="en-US" sz="1500" b="1" dirty="0"/>
              <a:t>Direct channel </a:t>
            </a:r>
            <a:r>
              <a:rPr lang="en-US" sz="1500" dirty="0"/>
              <a:t>contributes the </a:t>
            </a:r>
            <a:r>
              <a:rPr lang="en-US" sz="1500" b="1" dirty="0"/>
              <a:t>highest number of users and bookings</a:t>
            </a:r>
          </a:p>
          <a:p>
            <a:pPr lvl="1"/>
            <a:r>
              <a:rPr lang="en-US" sz="1500" b="1" dirty="0"/>
              <a:t>Mobile App</a:t>
            </a:r>
            <a:r>
              <a:rPr lang="en-US" sz="1500" dirty="0"/>
              <a:t> shows </a:t>
            </a:r>
            <a:r>
              <a:rPr lang="en-US" sz="1500" b="1" dirty="0"/>
              <a:t>higher conversion rate </a:t>
            </a:r>
            <a:r>
              <a:rPr lang="en-US" sz="1500" dirty="0"/>
              <a:t>compared to Mobile Web</a:t>
            </a:r>
          </a:p>
          <a:p>
            <a:pPr lvl="1"/>
            <a:r>
              <a:rPr lang="en-US" sz="1500" b="1" dirty="0"/>
              <a:t>Multi-device users</a:t>
            </a:r>
            <a:r>
              <a:rPr lang="en-US" sz="1500" dirty="0"/>
              <a:t> show </a:t>
            </a:r>
            <a:r>
              <a:rPr lang="en-US" sz="1500" b="1" dirty="0"/>
              <a:t>higher engagement</a:t>
            </a:r>
            <a:r>
              <a:rPr lang="en-US" sz="1500" dirty="0"/>
              <a:t> levels</a:t>
            </a:r>
          </a:p>
          <a:p>
            <a:pPr lvl="1"/>
            <a:r>
              <a:rPr lang="en-US" sz="1500" dirty="0"/>
              <a:t>A small group of users contributes disproportionately to session activity</a:t>
            </a:r>
          </a:p>
          <a:p>
            <a:pPr marL="0" indent="0">
              <a:buNone/>
            </a:pPr>
            <a:br>
              <a:rPr lang="en-US" sz="1500" dirty="0"/>
            </a:b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Supporting Metrics:</a:t>
            </a:r>
          </a:p>
          <a:p>
            <a:pPr lvl="1"/>
            <a:r>
              <a:rPr lang="en-US" sz="1500" b="1" dirty="0"/>
              <a:t>Total Users:</a:t>
            </a:r>
            <a:r>
              <a:rPr lang="en-US" sz="1500" dirty="0"/>
              <a:t> 2,500</a:t>
            </a:r>
          </a:p>
          <a:p>
            <a:pPr lvl="1"/>
            <a:r>
              <a:rPr lang="en-US" sz="1500" b="1" dirty="0"/>
              <a:t>Total Bookings:</a:t>
            </a:r>
            <a:r>
              <a:rPr lang="en-US" sz="1500" dirty="0"/>
              <a:t> 1,035</a:t>
            </a:r>
          </a:p>
          <a:p>
            <a:pPr lvl="1"/>
            <a:r>
              <a:rPr lang="en-US" sz="1500" b="1" dirty="0"/>
              <a:t>Conversion Rate:</a:t>
            </a:r>
            <a:r>
              <a:rPr lang="en-US" sz="1500" dirty="0"/>
              <a:t> 41.40%</a:t>
            </a:r>
          </a:p>
          <a:p>
            <a:pPr lvl="1"/>
            <a:r>
              <a:rPr lang="en-US" sz="1500" b="1" dirty="0"/>
              <a:t>Avg Session Duration:</a:t>
            </a:r>
            <a:r>
              <a:rPr lang="en-US" sz="1500" dirty="0"/>
              <a:t> ~1,098 seconds</a:t>
            </a:r>
          </a:p>
          <a:p>
            <a:pPr lvl="1"/>
            <a:r>
              <a:rPr lang="en-US" sz="1500" b="1" dirty="0"/>
              <a:t>Top Channel:</a:t>
            </a:r>
            <a:r>
              <a:rPr lang="en-US" sz="1500" dirty="0"/>
              <a:t> Direct (~70%+ contribution)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7842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9AFA-8D94-65CE-3FEA-019150437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3F15-C125-619F-5651-D4FB1479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80159"/>
          </a:xfrm>
        </p:spPr>
        <p:txBody>
          <a:bodyPr/>
          <a:lstStyle/>
          <a:p>
            <a:r>
              <a:rPr lang="en-US" dirty="0"/>
              <a:t>📍</a:t>
            </a:r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44A27-E4F7-1930-CA7D-7A7EFD273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20824"/>
            <a:ext cx="12192000" cy="4837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Summary:</a:t>
            </a:r>
          </a:p>
          <a:p>
            <a:pPr lvl="1"/>
            <a:r>
              <a:rPr lang="en-US" sz="1500" dirty="0"/>
              <a:t>User behavior is strongly influenced by device type and entry channel.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Direct and organic channels are key drivers of growth.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Mobile platforms offer strong conversion opportunities.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High-engagement users are critical for platform success.</a:t>
            </a:r>
          </a:p>
          <a:p>
            <a:pPr lvl="1"/>
            <a:endParaRPr lang="en-US" sz="1500" dirty="0"/>
          </a:p>
          <a:p>
            <a:pPr lvl="1"/>
            <a:r>
              <a:rPr lang="en-US" sz="1500" dirty="0"/>
              <a:t>Optimizing user journey can significantly improve conversion rates.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930799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EE8F-1C7D-473A-67DC-0702E54E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17CD5-1967-34C2-0596-52403C52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(1) – User Journey Overview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C1D91EB-DFF8-5949-A6DB-E34B77848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8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3C93-9CE2-F428-1842-837A8776E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1015"/>
          </a:xfrm>
        </p:spPr>
        <p:txBody>
          <a:bodyPr>
            <a:normAutofit/>
          </a:bodyPr>
          <a:lstStyle/>
          <a:p>
            <a:r>
              <a:rPr lang="en-US" dirty="0"/>
              <a:t>🖥️ </a:t>
            </a:r>
            <a:r>
              <a:rPr lang="en-US" b="1" dirty="0"/>
              <a:t>Dashboard Overview (2) – Growth Analysis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D1D5BB-49D0-E5F4-FCB9-8E15EB5C5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016"/>
            <a:ext cx="12192000" cy="55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6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883EE-CAA4-6258-2462-71277E2F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230AD-ADF4-E47F-1F34-99A0C33823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19656"/>
            <a:ext cx="12192000" cy="503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This project demonstrates how transforming user data into actionable insights helps uncover behavior patterns, enabling smarter decision-making, optimizing user experience, and driving engagement, conversion, and sustainable business growth.</a:t>
            </a:r>
            <a:r>
              <a:rPr lang="en-US" sz="1500" dirty="0"/>
              <a:t> Insights generated from this dashboard support </a:t>
            </a:r>
            <a:r>
              <a:rPr lang="en-US" sz="1500" b="1" dirty="0"/>
              <a:t>data-driven strategy decisions</a:t>
            </a:r>
            <a:r>
              <a:rPr lang="en-US" sz="1500" dirty="0"/>
              <a:t>.</a:t>
            </a:r>
          </a:p>
          <a:p>
            <a:pPr lvl="1"/>
            <a:r>
              <a:rPr lang="en-US" sz="1500" b="1" dirty="0"/>
              <a:t>Marketing Optimization:</a:t>
            </a:r>
          </a:p>
          <a:p>
            <a:pPr lvl="2"/>
            <a:r>
              <a:rPr lang="en-US" sz="1500" dirty="0"/>
              <a:t>Identify high-performing channels and reallocate budget to maximize ROI while reducing acquisition costs.</a:t>
            </a:r>
          </a:p>
          <a:p>
            <a:pPr lvl="1"/>
            <a:r>
              <a:rPr lang="en-US" sz="1500" b="1" dirty="0"/>
              <a:t>Channel Growth Strategy:</a:t>
            </a:r>
          </a:p>
          <a:p>
            <a:pPr lvl="2"/>
            <a:r>
              <a:rPr lang="en-US" sz="1500" dirty="0"/>
              <a:t>Scale high-conversion channels and replicate successful acquisition strategies to drive sustainable growth.</a:t>
            </a:r>
          </a:p>
          <a:p>
            <a:pPr lvl="1"/>
            <a:r>
              <a:rPr lang="en-US" sz="1500" b="1" dirty="0"/>
              <a:t>User Experience Enhancement:</a:t>
            </a:r>
          </a:p>
          <a:p>
            <a:pPr lvl="2"/>
            <a:r>
              <a:rPr lang="en-US" sz="1500" dirty="0"/>
              <a:t>Improve mobile and platform experience by reducing friction and increasing user engagement.</a:t>
            </a:r>
          </a:p>
          <a:p>
            <a:pPr lvl="1"/>
            <a:r>
              <a:rPr lang="en-US" sz="1500" b="1" dirty="0"/>
              <a:t>High-Value User Targeting:</a:t>
            </a:r>
          </a:p>
          <a:p>
            <a:pPr lvl="2"/>
            <a:r>
              <a:rPr lang="en-US" sz="1500" dirty="0"/>
              <a:t>Focus on high-intent and high-engagement users to boost retention and maximize lifetime value.</a:t>
            </a:r>
          </a:p>
          <a:p>
            <a:pPr lvl="1"/>
            <a:r>
              <a:rPr lang="en-US" sz="1500" b="1" dirty="0"/>
              <a:t>Conversion Improvement:</a:t>
            </a:r>
          </a:p>
          <a:p>
            <a:pPr lvl="2"/>
            <a:r>
              <a:rPr lang="en-US" sz="1500" dirty="0"/>
              <a:t>Optimize key touchpoints in the user journey to reduce drop-offs and increase booking rates.</a:t>
            </a:r>
          </a:p>
          <a:p>
            <a:pPr lvl="1"/>
            <a:r>
              <a:rPr lang="en-US" sz="1500" b="1" dirty="0"/>
              <a:t>Data-Driven Decisions:</a:t>
            </a:r>
          </a:p>
          <a:p>
            <a:pPr lvl="2"/>
            <a:r>
              <a:rPr lang="en-US" sz="1500" dirty="0"/>
              <a:t>Leverage insights to align product, marketing, and business strategies with actual user behavior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5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6EB768-C1A2-798B-6997-44B7CBCBE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236235"/>
            <a:ext cx="121920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✅ Business Impact &amp; Use Cases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9197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54EA-C6C0-AD7A-DFE4-7B107D7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52143"/>
          </a:xfrm>
        </p:spPr>
        <p:txBody>
          <a:bodyPr/>
          <a:lstStyle/>
          <a:p>
            <a:r>
              <a:rPr lang="en-US" dirty="0"/>
              <a:t>🙏 </a:t>
            </a:r>
            <a:r>
              <a:rPr lang="en-US" b="1" dirty="0"/>
              <a:t>Acknowledgement &amp; Contact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7620C-3B01-BD8D-C488-C2363A93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08760"/>
            <a:ext cx="12192000" cy="534923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Project Analyst: </a:t>
            </a:r>
            <a:r>
              <a:rPr lang="en-US" dirty="0"/>
              <a:t>Anik Chakraborty</a:t>
            </a:r>
            <a:br>
              <a:rPr lang="en-US" dirty="0"/>
            </a:br>
            <a:r>
              <a:rPr lang="en-US" dirty="0"/>
              <a:t>		📧 Email: anikc1710@gmail.com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Special Thanks To:</a:t>
            </a:r>
            <a:endParaRPr lang="en-US" dirty="0"/>
          </a:p>
          <a:p>
            <a:pPr lvl="1"/>
            <a:r>
              <a:rPr lang="en-US" b="1" dirty="0"/>
              <a:t>Coding Ninjas</a:t>
            </a:r>
            <a:r>
              <a:rPr lang="en-US" dirty="0"/>
              <a:t> – for project framework and guidance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Connect:</a:t>
            </a:r>
            <a:br>
              <a:rPr lang="en-US" dirty="0"/>
            </a:br>
            <a:r>
              <a:rPr lang="en-US" dirty="0">
                <a:hlinkClick r:id="rId2"/>
              </a:rPr>
              <a:t>🔗 GitHub</a:t>
            </a:r>
            <a:r>
              <a:rPr lang="en-US" dirty="0"/>
              <a:t> | </a:t>
            </a:r>
            <a:r>
              <a:rPr lang="en-US" dirty="0">
                <a:hlinkClick r:id="rId3"/>
              </a:rPr>
              <a:t>🔗 LinkedIn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927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2DE7D-CAB5-CBBB-05B8-C656AA0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34995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5020</TotalTime>
  <Words>906</Words>
  <Application>Microsoft Office PowerPoint</Application>
  <PresentationFormat>Widescreen</PresentationFormat>
  <Paragraphs>146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Airbnb - User Journey &amp; Growth Analysis</vt:lpstr>
      <vt:lpstr>🎯 Objective</vt:lpstr>
      <vt:lpstr>📘 Project Overview</vt:lpstr>
      <vt:lpstr>🗂️ Data Overview &amp; Schema</vt:lpstr>
      <vt:lpstr>💻 Tech Stack</vt:lpstr>
      <vt:lpstr>📈 Methodology &amp; Analysis</vt:lpstr>
      <vt:lpstr>❓ Problem Statement</vt:lpstr>
      <vt:lpstr>💡 Key Insights</vt:lpstr>
      <vt:lpstr>📍Conclusion</vt:lpstr>
      <vt:lpstr>🖥️ Dashboard Overview (1) – User Journey Overview</vt:lpstr>
      <vt:lpstr>🖥️ Dashboard Overview (2) – Growth Analysis</vt:lpstr>
      <vt:lpstr>✅ Business Impact &amp; Use Cases</vt:lpstr>
      <vt:lpstr>🙏 Acknowledgement &amp; Contact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 Chakraborty</dc:creator>
  <cp:lastModifiedBy>Anik Chakraborty</cp:lastModifiedBy>
  <cp:revision>49</cp:revision>
  <dcterms:created xsi:type="dcterms:W3CDTF">2025-10-10T07:10:37Z</dcterms:created>
  <dcterms:modified xsi:type="dcterms:W3CDTF">2026-04-05T17:50:58Z</dcterms:modified>
</cp:coreProperties>
</file>